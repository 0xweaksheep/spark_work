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6d600d7ac44650" /><Relationship Type="http://schemas.openxmlformats.org/officeDocument/2006/relationships/extended-properties" Target="/docProps/app.xml" Id="Raa1638d215b64d5b" /><Relationship Type="http://schemas.openxmlformats.org/officeDocument/2006/relationships/officeDocument" Target="/ppt/presentation.xml" Id="R4d8282025f3a48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ee528c5e7f490d"/>
  </p:sldMasterIdLst>
  <p:notesMasterIdLst>
    <p:notesMasterId xmlns:r="http://schemas.openxmlformats.org/officeDocument/2006/relationships" r:id="Rdaac8944842c40c4"/>
  </p:notesMasterIdLst>
  <p:sldIdLst>
    <p:sldId xmlns:r="http://schemas.openxmlformats.org/officeDocument/2006/relationships" id="256" r:id="Rb96fc98647e3417f"/>
    <p:sldId xmlns:r="http://schemas.openxmlformats.org/officeDocument/2006/relationships" id="257" r:id="Rd00305278eae4dd7"/>
    <p:sldId xmlns:r="http://schemas.openxmlformats.org/officeDocument/2006/relationships" id="258" r:id="R339eee5735b444eb"/>
    <p:sldId xmlns:r="http://schemas.openxmlformats.org/officeDocument/2006/relationships" id="259" r:id="Rbe5b6e1c0fab4d95"/>
    <p:sldId xmlns:r="http://schemas.openxmlformats.org/officeDocument/2006/relationships" id="260" r:id="R522c629213434a37"/>
    <p:sldId xmlns:r="http://schemas.openxmlformats.org/officeDocument/2006/relationships" id="261" r:id="Re28bc57280694d51"/>
    <p:sldId xmlns:r="http://schemas.openxmlformats.org/officeDocument/2006/relationships" id="262" r:id="R7f22dab3921e4af4"/>
    <p:sldId xmlns:r="http://schemas.openxmlformats.org/officeDocument/2006/relationships" id="263" r:id="R430bbef1bb7c4483"/>
    <p:sldId xmlns:r="http://schemas.openxmlformats.org/officeDocument/2006/relationships" id="264" r:id="R8678ad74364b4ecb"/>
    <p:sldId xmlns:r="http://schemas.openxmlformats.org/officeDocument/2006/relationships" id="265" r:id="Rcc23ba84197843f7"/>
    <p:sldId xmlns:r="http://schemas.openxmlformats.org/officeDocument/2006/relationships" id="266" r:id="R0c064b3399e946ae"/>
    <p:sldId xmlns:r="http://schemas.openxmlformats.org/officeDocument/2006/relationships" id="267" r:id="R34734fa981f247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e6f4e35f364b51" /><Relationship Type="http://schemas.openxmlformats.org/officeDocument/2006/relationships/slideMaster" Target="/ppt/slideMasters/slideMaster1.xml" Id="R56ee528c5e7f490d" /><Relationship Type="http://schemas.openxmlformats.org/officeDocument/2006/relationships/notesMaster" Target="/ppt/notesMasters/notesMaster1.xml" Id="Rdaac8944842c40c4" /><Relationship Type="http://schemas.openxmlformats.org/officeDocument/2006/relationships/presProps" Target="/ppt/presProps.xml" Id="R133b87bd46c64afe" /><Relationship Type="http://schemas.openxmlformats.org/officeDocument/2006/relationships/viewProps" Target="/ppt/viewProps.xml" Id="R6db6a0a1e70c4e74" /><Relationship Type="http://schemas.openxmlformats.org/officeDocument/2006/relationships/tableStyles" Target="/ppt/tableStyles.xml" Id="R6c188c5bfc4149b7" /><Relationship Type="http://schemas.openxmlformats.org/officeDocument/2006/relationships/slide" Target="/ppt/slides/slide1.xml" Id="Rb96fc98647e3417f" /><Relationship Type="http://schemas.openxmlformats.org/officeDocument/2006/relationships/slide" Target="/ppt/slides/slide2.xml" Id="Rd00305278eae4dd7" /><Relationship Type="http://schemas.openxmlformats.org/officeDocument/2006/relationships/slide" Target="/ppt/slides/slide3.xml" Id="R339eee5735b444eb" /><Relationship Type="http://schemas.openxmlformats.org/officeDocument/2006/relationships/slide" Target="/ppt/slides/slide4.xml" Id="Rbe5b6e1c0fab4d95" /><Relationship Type="http://schemas.openxmlformats.org/officeDocument/2006/relationships/slide" Target="/ppt/slides/slide5.xml" Id="R522c629213434a37" /><Relationship Type="http://schemas.openxmlformats.org/officeDocument/2006/relationships/slide" Target="/ppt/slides/slide6.xml" Id="Re28bc57280694d51" /><Relationship Type="http://schemas.openxmlformats.org/officeDocument/2006/relationships/slide" Target="/ppt/slides/slide7.xml" Id="R7f22dab3921e4af4" /><Relationship Type="http://schemas.openxmlformats.org/officeDocument/2006/relationships/slide" Target="/ppt/slides/slide8.xml" Id="R430bbef1bb7c4483" /><Relationship Type="http://schemas.openxmlformats.org/officeDocument/2006/relationships/slide" Target="/ppt/slides/slide9.xml" Id="R8678ad74364b4ecb" /><Relationship Type="http://schemas.openxmlformats.org/officeDocument/2006/relationships/slide" Target="/ppt/slides/slide10.xml" Id="Rcc23ba84197843f7" /><Relationship Type="http://schemas.openxmlformats.org/officeDocument/2006/relationships/slide" Target="/ppt/slides/slide11.xml" Id="R0c064b3399e946ae" /><Relationship Type="http://schemas.openxmlformats.org/officeDocument/2006/relationships/slide" Target="/ppt/slides/slide12.xml" Id="R34734fa981f247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a39a7a7b4c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e77adf7e294cc0" /><Relationship Type="http://schemas.openxmlformats.org/officeDocument/2006/relationships/notesMaster" Target="/ppt/notesMasters/notesMaster1.xml" Id="Rf635b54b7a8a49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b8ca5dcbd04457" /><Relationship Type="http://schemas.openxmlformats.org/officeDocument/2006/relationships/notesMaster" Target="/ppt/notesMasters/notesMaster1.xml" Id="R985eb4f6e9b945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f4aba64e44bf1" /><Relationship Type="http://schemas.openxmlformats.org/officeDocument/2006/relationships/notesMaster" Target="/ppt/notesMasters/notesMaster1.xml" Id="Rca95ae86114442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629933facc4d19" /><Relationship Type="http://schemas.openxmlformats.org/officeDocument/2006/relationships/notesMaster" Target="/ppt/notesMasters/notesMaster1.xml" Id="R505b57c3a3be41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c467c387c1461e" /><Relationship Type="http://schemas.openxmlformats.org/officeDocument/2006/relationships/notesMaster" Target="/ppt/notesMasters/notesMaster1.xml" Id="R70c1f1cb84344c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949f4eaa7c4038" /><Relationship Type="http://schemas.openxmlformats.org/officeDocument/2006/relationships/notesMaster" Target="/ppt/notesMasters/notesMaster1.xml" Id="R2d904749c1a440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93e728c02740ab" /><Relationship Type="http://schemas.openxmlformats.org/officeDocument/2006/relationships/notesMaster" Target="/ppt/notesMasters/notesMaster1.xml" Id="R443e53add3e84b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f7fe5ffae848f3" /><Relationship Type="http://schemas.openxmlformats.org/officeDocument/2006/relationships/notesMaster" Target="/ppt/notesMasters/notesMaster1.xml" Id="R94191053aad143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8283a8184845fe" /><Relationship Type="http://schemas.openxmlformats.org/officeDocument/2006/relationships/notesMaster" Target="/ppt/notesMasters/notesMaster1.xml" Id="R763fda82cb414f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59cf3c83524540" /><Relationship Type="http://schemas.openxmlformats.org/officeDocument/2006/relationships/notesMaster" Target="/ppt/notesMasters/notesMaster1.xml" Id="Rd0e9ef9b2b8249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366049303046b4" /><Relationship Type="http://schemas.openxmlformats.org/officeDocument/2006/relationships/notesMaster" Target="/ppt/notesMasters/notesMaster1.xml" Id="R45a5e9d95a1d40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fbd4adbb2a4131" /><Relationship Type="http://schemas.openxmlformats.org/officeDocument/2006/relationships/notesMaster" Target="/ppt/notesMasters/notesMaster1.xml" Id="R11031e219c1746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366be5f2a42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d36be8dfcd4857" /><Relationship Type="http://schemas.openxmlformats.org/officeDocument/2006/relationships/slideLayout" Target="/ppt/slideLayouts/slideLayout1.xml" Id="Rdd902485a257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902485a257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ad0678af748c4" /><Relationship Type="http://schemas.openxmlformats.org/officeDocument/2006/relationships/notesSlide" Target="/ppt/notesSlides/notesSlide1.xml" Id="R4ead839e444947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6917d38004953" /><Relationship Type="http://schemas.openxmlformats.org/officeDocument/2006/relationships/notesSlide" Target="/ppt/notesSlides/notesSlide2.xml" Id="R1aca8ea723784a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2a355773b449f" /><Relationship Type="http://schemas.openxmlformats.org/officeDocument/2006/relationships/notesSlide" Target="/ppt/notesSlides/notesSlide3.xml" Id="R81d6855253b44a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f5ca33c374cd2" /><Relationship Type="http://schemas.openxmlformats.org/officeDocument/2006/relationships/notesSlide" Target="/ppt/notesSlides/notesSlide4.xml" Id="Rb048d60847d241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1f83bf4b41aa" /><Relationship Type="http://schemas.openxmlformats.org/officeDocument/2006/relationships/notesSlide" Target="/ppt/notesSlides/notesSlide5.xml" Id="R5f338141f7dc47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a850019424bed" /><Relationship Type="http://schemas.openxmlformats.org/officeDocument/2006/relationships/notesSlide" Target="/ppt/notesSlides/notesSlide6.xml" Id="R268cf794d1b541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dcfe407cd4eb0" /><Relationship Type="http://schemas.openxmlformats.org/officeDocument/2006/relationships/notesSlide" Target="/ppt/notesSlides/notesSlide7.xml" Id="R2c9ed31ae84b41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c76c73a0347ec" /><Relationship Type="http://schemas.openxmlformats.org/officeDocument/2006/relationships/notesSlide" Target="/ppt/notesSlides/notesSlide8.xml" Id="R5dffef9dac2641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f77b3aa654501" /><Relationship Type="http://schemas.openxmlformats.org/officeDocument/2006/relationships/notesSlide" Target="/ppt/notesSlides/notesSlide9.xml" Id="R1acaa56c01ed44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bd90260f641aa" /><Relationship Type="http://schemas.openxmlformats.org/officeDocument/2006/relationships/notesSlide" Target="/ppt/notesSlides/notesSlide10.xml" Id="Rc36b8d48f53c43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e6bb16d3f4e13" /><Relationship Type="http://schemas.openxmlformats.org/officeDocument/2006/relationships/notesSlide" Target="/ppt/notesSlides/notesSlide11.xml" Id="Rcbca2d8190fa4c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ffcd852114c92" /><Relationship Type="http://schemas.openxmlformats.org/officeDocument/2006/relationships/notesSlide" Target="/ppt/notesSlides/notesSlide12.xml" Id="R31f1a7c56b9841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CECC29-CFE6-4FBE-AC29-F72FAB6B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59CB9-0DEE-4342-A336-C4280A80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2D43B-51F7-43FF-87A1-C51CDD3F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17847-1680-4889-8499-481BE569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基于 Spark 的电影数据离线分析系统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48B4B-9F2B-4F23-B29B-3425CE49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HDFS + Spark RDD / SQL / Streaming + MySQL + Flask + ECharts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5E7CF-2974-4D62-9EA7-6CA53896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16BF2-96DA-49C8-AD87-A787DC33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40A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1E40AF"/>
                </a:solidFill>
                <a:latin typeface="Aptos Mono"/>
                <a:ea typeface="Aptos Mono"/>
                <a:cs typeface="Aptos Mono"/>
              </a:rPr>
              <a:t>45,843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2E0B4-F8C5-4AD5-AA5E-A7CE55FF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电影条目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7B534-A0F0-424C-BE89-18862ACE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717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25329-8DF5-4571-80D7-D4D221AB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432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1,048,575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E5C68-B4DD-4631-BDAD-FC76CD40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62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评分记录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317CE-AC8B-49BB-B809-0AF16456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DDE9D-C4C2-4CF4-864B-DB5C5439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6,040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B84F6-621C-407C-9C07-F68A7B59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62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用户样本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9D5B3-2D9E-417E-B508-0CF7F997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1777A-B95C-4A2D-B49D-067B08C5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B91C1C"/>
                </a:solidFill>
                <a:latin typeface="Aptos Mono"/>
                <a:ea typeface="Aptos Mono"/>
                <a:cs typeface="Aptos Mono"/>
              </a:rPr>
              <a:t>3 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5C766-3CB8-46A7-88F9-EC19B68E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Spark 组件覆盖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B4AC6-A651-48B9-8308-702356A1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0363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62937-7CA7-4CED-B28D-D1434AF9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C8739-22C6-444E-9001-DA5C0240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998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答辩主线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D5AF1-8EED-4836-B8BA-1FFA65B1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998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先说明考核目标和技术选型，再展示数据处理链路、三类 Spark 作业、可视化页面和运行验收。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22C783-9B02-4A38-8D61-CA5E81E0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066AF-4215-4587-BA8E-E95408CF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课程考核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6AA51D-7DB5-4174-93C3-DBC35EB6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721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D5B99-BF80-4D76-B406-36F0B865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38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可运行项目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2439D-B5CD-472F-9AE2-FBA4DF6E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721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A6B2E8-DD00-4996-B886-B1AAF653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38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报告截图</a:t>
            </a:r>
          </a:p>
        </p:txBody>
      </p:sp>
    </p:spTree>
    <p:extLst>
      <p:ext uri="{BB962C8B-B14F-4D97-AF65-F5344CB8AC3E}">
        <p14:creationId xmlns:p14="http://schemas.microsoft.com/office/powerpoint/2010/main" val="17227722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37D43-CF55-4EB0-B730-BEEADB80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176AE-1E3B-4379-AD1C-F5E95CFA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C9EE7-A96A-4C36-BEDD-DDADEBE2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32940-5CD4-4791-A0FD-C355C999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01 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6C438-0F44-40D1-85AB-169741EC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考核目标拆解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1650E-33CA-4423-9B5F-2CC7A62A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将附件要求拆成三个可验证功能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CD5C2-FC75-4AC3-95CF-150C8EBF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696F9-7504-42A5-88F0-889934E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DF0C0-C8B5-4BBE-97F2-26764CBF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功能一：RDD 离线分析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1C355-91B1-42C2-AE50-C411FC2B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数据上传 HDFS；读取 movies 与 ratings；过滤异常数据；计算平均评分；输出前 20 部高分电影。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47CD5-65BA-497C-B4A5-23F749A8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66C59-5468-45C7-946E-E5E1A6C6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2DAD4-C479-4043-B131-B4C67BE3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050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功能二：Spark SQL + MySQL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2F1FB-0D69-4CF3-B68F-D8D804D6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导入 MySQL；通过 JDBC 访问结构化表；按用户性别统计电影类型关注人数；柱状图展示。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42715-AC81-48DD-B8C3-0AD744FE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040B6-1CFE-4181-A3C7-D477BBFF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79AF2-4439-454E-A7DC-82BD2392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050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功能三：Streaming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5EB98-7DB5-4E6D-A7AA-C4A2F54C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28875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动态追加评分批次文件；实时计算评分数量和平均分；折线图轮询刷新，展示变化过程。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78EA7-6242-4FFD-9EDC-B10CB898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交付物：Docker 项目、Flask 仪表盘、课程总结报告、答辩 PPT、运行命令与截图清单。</a:t>
            </a:r>
          </a:p>
        </p:txBody>
      </p:sp>
    </p:spTree>
    <p:extLst>
      <p:ext uri="{BB962C8B-B14F-4D97-AF65-F5344CB8AC3E}">
        <p14:creationId xmlns:p14="http://schemas.microsoft.com/office/powerpoint/2010/main" val="14660261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A25656-30D5-41CC-95EA-A6960B2D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64911-50A0-4638-965B-2FDB1BEC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18BDF-5F9C-4EAB-90F5-ECD5864C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9E1D3-8BB2-4961-9E81-D05097E4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02 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EFB8E-66A7-498E-9BA9-F36FC196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总体架构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205B4-8315-485C-9493-4EAD7DB2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数据层、计算层、存储层、服务层、展示层解耦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2887A-ED07-431A-9AFE-01069356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809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FC6DF-AF94-4C38-A5A5-EAC42BEA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23E1A-D0E6-4996-8665-CB43C70E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数据层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64330-AE6C-42DC-9F64-DC4343BB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CSV / DAT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清洗数据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流式批次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D0EC9-D943-4456-A0F7-9C027AE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383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7DF26-022D-40FB-B29D-3708A85D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383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D43F2-6C80-408D-8714-71FE0F7A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HDFS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FFBFC-9845-45D0-83DB-1290DA7A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/movie/input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/movie/stream/input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47F5E-AD55-4D0E-8A0D-EC6BDC42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430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B47E3-77C1-48F4-9858-7811415F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430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E8699-B8C0-41E7-A6AC-B701706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Spark RDD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3973F-BD3C-4CB0-8F94-62AB400B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9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Top 20 电影评分榜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9C269-2B56-4FB3-9B73-D3ABA436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3167B-AD4C-4F8C-9048-8D8D7241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5C97C-F1AC-4BF8-9372-06498F06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95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Spark 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E2237-86E9-4AD0-A4D3-D703803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男女电影类型关注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6024A-62F4-40E1-8246-30970481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433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8ECD4-1025-40D6-8478-F58CC6DE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433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68021-CA25-4CCF-875C-F704CBDE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Streaming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19C19-58CB-4694-BE76-DB9509BF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19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实时评分趋势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D7897-3ADF-45CC-B91E-C0BB0A66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63D225-EA15-4026-8686-2D7D4D94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CDE410-FE39-4078-8C42-0037651F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1375F-7794-4439-9B34-CBC0E922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原始表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结果表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BBB702-81AA-4B13-85EF-538D31EB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38350"/>
            <a:ext cx="1333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F18E1C-8253-46C6-B949-63933C43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383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8B5572-5ECE-4516-B570-C4D07B46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907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568A40-89D6-4F09-AADF-9184C9F2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14600"/>
            <a:ext cx="95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Flask API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ECharts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E00940-DBCA-4358-A46F-139AD84E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46DA08-9D80-4A16-AEC7-6769AD26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050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40F658-12E6-43F4-B4FE-93962019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4FD9BC-1CDD-4BE7-9CD4-8ED305D1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954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FB3EE6-DD35-40B5-B5C0-2DDE397E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6F1FB1-E9F7-457B-B14F-798CC52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956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97B1D4-10E7-4849-B48D-185E284F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F91022-2F9C-4A4C-86F7-291E713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957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D5DB62-69FE-432D-960B-DA0191D3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B51EC8-6218-476F-A275-D3305F1A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050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2C9032-3B17-49B2-AA6E-C9A066DF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71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78362F-6637-4D1F-A15D-76BC5197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050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543274-E50B-4E42-AC18-5F0D2044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Web 页面只读取 MySQL 结果表，计算任务通过脚本触发，便于演示和复现实验。</a:t>
            </a:r>
          </a:p>
        </p:txBody>
      </p:sp>
    </p:spTree>
    <p:extLst>
      <p:ext uri="{BB962C8B-B14F-4D97-AF65-F5344CB8AC3E}">
        <p14:creationId xmlns:p14="http://schemas.microsoft.com/office/powerpoint/2010/main" val="10799976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1E0586-309D-4F48-9926-BDB3DE49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A5DBC-0166-4B6C-8B94-5D55B211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4A018-EC78-4A77-9C4B-CB9025DA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7BE78-6071-4EC6-8534-E8CE5B56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03 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9C7B7-8A85-4834-9299-5FE7A31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数据集与预处理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E54F1-6C3B-40D6-B3CF-C4B383D4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保留原始压缩包，生成清洗后的 processed 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0E126-D1F4-4091-ABFD-825985C3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CD1A6-C244-4E6F-B1BE-B08B84BA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40A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1E40AF"/>
                </a:solidFill>
                <a:latin typeface="Aptos Mono"/>
                <a:ea typeface="Aptos Mono"/>
                <a:cs typeface="Aptos Mono"/>
              </a:rPr>
              <a:t>45,843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F65BD-0077-4261-B364-24F62260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Movies.csv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76456-C2E1-46E8-86DB-8209176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22102-1A4E-4AA3-92FD-90222117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812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1,048,575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79768-9270-482C-825F-E924FC84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Ratings.csv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CCBCD-82AA-4ED6-803F-0A3DEFA4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971A5-F916-4573-AA06-EF6A460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753,155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38CED-CF65-400A-9AD5-D3C81AA7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Tags.csv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EE9DD-AEBC-4FD0-B0A6-ED4F4960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BECDB-204B-47C4-A2CC-BDC17840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B91C1C"/>
                </a:solidFill>
                <a:latin typeface="Aptos Mono"/>
                <a:ea typeface="Aptos Mono"/>
                <a:cs typeface="Aptos Mono"/>
              </a:rPr>
              <a:t>6,040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02999-5BE7-44D6-979D-D6AAB0AE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Users.dat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FC678-BD7C-493F-992B-B441BFA8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C366A-47C5-4C41-8A98-33EA4DC7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063FD-3BE7-4672-B818-B286F73E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清洗策略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4F228-9EBB-42D5-A83B-B766B6A6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CSV 使用标准 csv.reader 解析；异常编码容错；过滤空标签、非法评分和坏行；将 Users.dat 转换为 Users.csv 便于入库。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4DCD5-F17A-47AB-82BA-FC67E4C4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AA0519-79C8-49F5-9C6A-686AF90D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B91A3-B055-4573-89A9-152959B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统计口径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F89CF-ECEE-4A77-99B2-B245E32A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Users.dat 与 Tags.csv 用户范围不完全一致，因此性别统计以 ratings + movies + users 为主，按 genres 作为电影标签/类型。</a:t>
            </a:r>
          </a:p>
        </p:txBody>
      </p:sp>
    </p:spTree>
    <p:extLst>
      <p:ext uri="{BB962C8B-B14F-4D97-AF65-F5344CB8AC3E}">
        <p14:creationId xmlns:p14="http://schemas.microsoft.com/office/powerpoint/2010/main" val="1732531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1EB1B-3B26-42F2-9B44-132FE483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F18CA-A943-4029-8C7F-9A295D44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880FE-11C1-49B5-8CDC-D474491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EC627-C492-42B8-8BB1-A118CA59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04 存储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38587-321C-4927-9471-6334ECC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数据库设计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3CD7B-750A-46D7-910E-F3A24B5B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四张原始表 + 四张结果表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18348-5F24-46A3-93AF-726D9D09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625F9-43CB-493B-A01C-90A663B2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A47CD-B236-4547-97ED-1F602A1F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原始数据表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F997A-27FF-43CD-8BE5-E9E16C02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4381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movies：电影 ID、标题、类型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ratings：用户评分记录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users：用户性别、年龄、职业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tags：补充标签数据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88F62-C60E-4BF6-A948-B10F2A7C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C74B7-29EC-4BAE-B25E-943AF83A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7C5CD-092F-4EB6-BAB5-DFF8195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分析结果表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4CB2E-1338-46BA-A92C-A38EDA29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381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top_movies：评分最高前 20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gender_genre_attention：男女类型关注数量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gender_top_genres：男女最关注类型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stream_rating_trend：流式评分趋势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45D16-E2B8-47F5-803D-522A899A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结果表面向页面查询设计，避免 Web 层直接扫描 HDFS 或重复执行 Spark 作业。</a:t>
            </a:r>
          </a:p>
        </p:txBody>
      </p:sp>
    </p:spTree>
    <p:extLst>
      <p:ext uri="{BB962C8B-B14F-4D97-AF65-F5344CB8AC3E}">
        <p14:creationId xmlns:p14="http://schemas.microsoft.com/office/powerpoint/2010/main" val="1756965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3948C-5212-47C0-A44F-439C73CC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23440-962A-4CE7-A7E0-63758DD0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02819-17FD-458F-891B-42002C0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4CEE5-D138-4F84-8DC5-2195CAB0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05 RDD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51418-0C02-4FC4-A797-358DCDE4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RDD：平均评分最高前 20 部电影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25EDB-B5B9-4126-966A-683DCD89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展示 Spark Core 的转换、聚合、排序过程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E2611-2B28-461A-AB5E-90491286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94963-6893-44C4-92CD-976AB2E2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754A0-D1AD-4724-9A02-E7D3DDC4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读取 HDFS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C482E-CF58-427C-ADCF-81D6900C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Movies.csv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Ratings.csv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1CA28-A8B3-4366-B025-034EBF0B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CA083-CAC1-4F0C-8CC8-C128D4CE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F7762-3FCC-4000-89DD-542F7C19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解析过滤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23D1B-6508-444C-9DE9-7527E57D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过滤表头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过滤异常行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062CB-6F60-4C0D-BED5-B3BBF687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57522-3969-4765-B02C-CABFC189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E0AEE-54BF-4D2C-8188-C7493DD5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00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聚合评分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01E5D-CDB3-4722-8D6D-6E6409DF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241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movieId -&gt;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(sum, count)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561BD-F83F-4A67-9B18-7FEDCB83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25215-15B5-441B-89BE-5CFC6C8C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7C381-8582-4754-B29A-C259E12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00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关联标题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07032-C0B2-476F-83E7-230A61E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join movies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得到 title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D6E12-0F9C-400D-A68B-B2950E2B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8CC61-2E51-4827-BB19-09249BD2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0BC04-C0CB-476D-9F55-0A09AB5C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写结果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5D0CB-DF1E-4784-AC6B-33460EBE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24150"/>
            <a:ext cx="1238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top_movies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Top 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E239A-E86A-4458-AB43-C6DF1927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26DB68-499E-443E-93E1-2016631C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908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582F7F-79C9-43CB-8D3D-ECF83A7E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575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35EA3-D870-44A9-AA1D-354486B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908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D35D16-375F-48B6-8846-B48F8DB7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CAF61E-980E-4F24-8742-10AD94FA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908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FE7B88-C9A8-4D07-AE1E-7B2FC025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C25348-BDC6-41C7-850E-E9B64852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908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13B7D-82C7-49BE-9494-65A0DB43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排序规则：平均分降序、评分次数降序、标题升序。结果用于页面横向柱状图和 Top 20 明细表。</a:t>
            </a:r>
          </a:p>
        </p:txBody>
      </p:sp>
    </p:spTree>
    <p:extLst>
      <p:ext uri="{BB962C8B-B14F-4D97-AF65-F5344CB8AC3E}">
        <p14:creationId xmlns:p14="http://schemas.microsoft.com/office/powerpoint/2010/main" val="2973087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8FF49A-3A1B-444A-98F1-58612D48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9AE1B-0D29-4658-A978-D951C8EA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4C9F2-66C7-4AB0-884D-92665A04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C833D-2CA8-4ACA-9D34-2422589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06 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F188C-BF9A-4752-A42A-D1DD72A5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Spark SQL：男女关注电影类型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1AB3C-E8BD-4628-858E-23C60392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JDBC 读取 MySQL，DataFrame + SQL 完成关联统计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47817-6BBB-40B4-B137-6234E16F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DB778-D1C8-4E50-91C6-0C8A5324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BB37C-6479-4334-8BCB-2A02B45F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输入表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95BDF-A8EB-4049-877D-5305D5A4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ratings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movies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E912D-F708-4A65-9DF5-AB240A32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669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E294F-352B-4BF4-ADC0-76CF236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669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580BD-CDB8-4033-B5E3-DDE96C23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19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关联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0FEBE-8BB4-4E93-AACE-9D51B6D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ratings.user_id = users.user_id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ratings.movie_id = movies.movie_id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57E53-ACEF-496D-9F5B-60FC5187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5BC17-9ECB-4FFE-A211-A975B916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0F778-6CD7-454F-97B0-F34E36A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拆分类型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E1711-2ABF-4185-A7A5-3E37BF94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431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explode(split(genres, '|'))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7D607-CE9C-4034-8437-DFA61897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299D0-9BE1-43D8-B3B3-B8F0A2BD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54F70-880A-4BB6-A36C-74BAAF8A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分组聚合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61295-B4AF-4CE1-989F-14BD4427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GROUP BY gender, genre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C30C8-44A6-472E-BCC4-BAA325B1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C0102-CA54-4C87-B4F4-72ADCB2F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3582D-CB5D-4DA2-9483-EA819AD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窗口函数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6F15F-FDAD-48EE-BDF9-C8EEAEDA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910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ROW_NUMBER 选出最高类型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DF7D7-2996-4B9E-870F-E0CF1A1F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E96D3-7398-49D0-9B10-52FFFC10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174EED-E58B-4CAB-87D1-D57C5F1E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337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输出表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4F0C5E-F9FD-4534-9DF3-703316F1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123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gender_genre_attention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gender_top_genres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E26493-17D8-433D-967B-4FC08DC0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384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462717-0FC6-47AF-BDD6-DB1671EE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717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1A6DCA-F300-476E-80DB-FB347A4F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3840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B4DAA3-472F-46DB-8575-BC9B53D4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717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A329CF-C56E-4DAC-B3EB-6D5D0918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67050"/>
            <a:ext cx="9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5AD52-08F5-44C0-AFCF-E20A5089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9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45ECAB-6F7C-42D5-97C6-3334E546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F8DECA-6CF0-47CD-9C68-D41F689B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530BCA-9AC8-4561-A60D-42658769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862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B8A57C-A92F-4D37-A6CF-7F725D9F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86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411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82B2E-D0C4-4FE4-AC91-9180BAA8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2EB1D-FB03-4263-A8E3-4D8FD135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B6E77-6477-4C33-9B1F-7AB0950B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2B990-EBD3-4490-9D79-D5E7F69C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07 Streaming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20708-E2D0-475E-9D07-06FE9D50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Streaming：动态评分趋势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DD5A8-CFF4-4AAF-93E7-9524229B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用小批次文件模拟评分持续到达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96FA6-EA00-499A-98FC-AEC556F5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E866F-49FF-4B8C-BD70-2BEACF6B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47555-F0EF-4C90-BFFD-9CFC7A71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拆分批次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904AB-11C8-4E58-B364-A740359D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Ratings.csv -&gt;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ratings_batch_001.csv ...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6B93C-7329-4704-9E04-CBCE86C0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0266A-9957-4DC6-B5DC-7D754036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C35C8-4527-45F1-AA94-7FDACB70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47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追加 HDFS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DE118-DA49-4BA9-862B-309F3089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/movie/stream/input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每 6 秒一个文件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0A4B0-57EE-44F6-8950-D070B36D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942C0-D6F2-4324-851C-E445B561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63FC9-432A-45A5-A61E-309C95F4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流式处理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5AF83-04F5-4D2B-800F-2F33C264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maxFilesPerTrigger=1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foreachBatch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BE049-4B66-44C1-89EF-E814B53A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A5EA5-2B0E-43EF-BBF3-EFAD643F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3E6A4-8AAB-4489-BB6D-8C3DB8A2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趋势入库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3CB9A-EC21-4490-8BED-D3C2085C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stream_rating_trend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avg/count/min/max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729D5-B627-41BB-8FA2-4DC96BBB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05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7F890C-8B10-44A6-963E-63D51574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384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FF216-9C8F-442D-848E-4B363602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05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758B0-1F1B-4D8F-BFFC-B3FCCAF5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384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73CE8-6F6C-499C-B55F-C4CAE756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A86AEA-7185-4752-AADB-99E45BA7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384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0E1942-C09C-4C93-A888-23769CFF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AA081-3E95-440A-81C1-545636BD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E0BCD-80D6-428B-B7BF-3A7B611D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页面效果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0A0059-EABF-491A-ABB7-E6195D5D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482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前端每 6 秒调用 /api/stream-trend。随着 stream_rating_trend 增加记录，折线图展示平均分和记录数的连续变化。</a:t>
            </a:r>
          </a:p>
        </p:txBody>
      </p:sp>
    </p:spTree>
    <p:extLst>
      <p:ext uri="{BB962C8B-B14F-4D97-AF65-F5344CB8AC3E}">
        <p14:creationId xmlns:p14="http://schemas.microsoft.com/office/powerpoint/2010/main" val="5826701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55720F-F648-4CD0-AD8D-D5991153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AA3D2-02D4-4773-9A73-93F2065F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F64A7-82A9-40BA-ADCC-FC8BF255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819EE-3995-4A4A-BDB6-D4F66F76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08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BE26E-0AE5-40D8-BF8A-EF125FF8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Flask + ECharts 可视化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FF46B-7841-4805-88E2-8F9092E2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首页就是实际分析仪表盘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9A8CD-6623-4E20-B954-E3D7A9E9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50C4B-6895-42CC-86C4-CD175AFA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7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E0A60-E5E9-42FC-BA94-2DEF7C29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4525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API 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8FD06-D70A-44D9-83B4-144F2001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/api/summary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/api/top-movies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/api/gender-genres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/api/stream-trend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31407-8FC3-4F8E-80E9-246A58DF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C9666-2224-4B2B-B2FE-F3A24A7D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57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52DFC-FA19-4614-9AB2-AD6D451A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14525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图表设计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1BF38-A311-4ED1-84DF-1C6AA862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38375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Top 20 横向柱状图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男女类型分组柱状图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实时评分折线图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F06D0-279D-4B93-81C8-1F8642E9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72071-30DD-49CE-9E2A-26EA9357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57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0EA41-A8A3-4BBF-B1CD-1B534CFE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14525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交互设计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66FC0-3750-4586-875A-8E5500AE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刷新按钮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Streaming 自动轮询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响应式布局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54BF4-ECAB-4CF0-AE00-08C7B8EE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000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250DC-2492-4685-8E83-B9D2EEED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页面展示服务与计算任务解耦：Spark 写 MySQL，Flask 读 MySQL，ECharts 只负责渲染结果。</a:t>
            </a:r>
          </a:p>
        </p:txBody>
      </p:sp>
    </p:spTree>
    <p:extLst>
      <p:ext uri="{BB962C8B-B14F-4D97-AF65-F5344CB8AC3E}">
        <p14:creationId xmlns:p14="http://schemas.microsoft.com/office/powerpoint/2010/main" val="14078215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C27A43-A13A-4573-A149-60C89377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55EBF-F4B0-46E5-A51F-85F40429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576A0-E2AE-411B-85AA-82B0765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8A09B-4824-4B10-99F2-CDD71F7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09 验收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6F7D1-ED30-448D-BECF-86491763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运行命令与验收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24C7D-E178-4ED6-9F8F-939AC132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答辩时按命令链路演示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4E608-C85A-4931-A58A-45C19FF9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857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04AB6-CA87-4FF3-ACB4-285CC006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C5BF9-5C90-4024-9457-9C7C3615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核心命令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42FA4-E97C-4A98-BE5F-96C3BA5B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compose up -d --build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compose exec spark-hadoop bash scripts/setup_all.sh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compose exec spark-hadoop hdfs dfs -ls /movie/input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compose exec spark-hadoop bash scripts/run_streaming_demo.sh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9536F-5FB3-4D17-80EF-86C9AFE5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857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06C60-A734-4D88-A0DC-A5D92ADA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A8872-3005-440B-AE49-4E8F60E2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验收结果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DED3B-8E94-465E-99C7-55AEB343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HDFS 能看到四个输入文件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MySQL 原始表有数据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Top 20 表有 20 条记录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男女类型统计表有结果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Streaming 趋势表持续增加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 三个图表正常显示</a:t>
            </a:r>
          </a:p>
        </p:txBody>
      </p:sp>
    </p:spTree>
    <p:extLst>
      <p:ext uri="{BB962C8B-B14F-4D97-AF65-F5344CB8AC3E}">
        <p14:creationId xmlns:p14="http://schemas.microsoft.com/office/powerpoint/2010/main" val="4134335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44129A-33E4-4179-999C-6FC1320A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12437-85F0-4A6D-851A-C02A39E3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12EE7-9728-4B7A-8419-C4C22A83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A063C-4026-4F25-9905-65DAA91C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10 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2FED2-3CFF-4712-A0E5-28C25A95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小组答辩分工建议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5365A-34A0-4838-BEC7-D095ED6B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每人 5 分钟，可按模块分配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E677A-AA25-400F-9DB5-12BD113D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DD0E5-D89E-47DE-8568-3A0385E2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E5E10-E63F-49F4-9395-9FDC3EF2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成员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D3BA5-13CF-4407-9C90-02D066FC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项目背景、考核要求、总体架构、技术选型。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C05BA-1104-4CC9-925E-98C5118F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954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55DDA-B9F6-4920-AA0B-2F646E8B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954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69280-8800-4755-906A-9CCE3386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478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成员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41110-EBD2-4590-8008-16B15996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71700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数据集说明、预处理、HDFS 上传、MySQL 表设计。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8A4AF-CC7F-41DC-A9A9-E86FAC84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13917-E1B3-4166-BC4A-7EA1DA13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84543-596E-44F9-814C-7B47AC70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成员 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8D799-BB85-4E3C-AE68-CE35EC15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RDD Top 20 作业、Spark SQL 男女类型统计。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D7C87-D43A-431D-9813-6B34F8C8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05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F89D8-E075-45EC-A2DA-3BAF01E9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05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F3E93-2C5F-42BE-AD9B-4056EE43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576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成员 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CC0FB-9C18-413C-B49F-C3CD49BD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81500"/>
            <a:ext cx="276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Streaming 演示、Web 可视化、截图结果。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A4C1F-FAC7-4DDE-94EE-67830F5C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57FD1B-21A3-4429-9052-FCD4EEF7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2D952-2E35-448C-9BAD-1147A9F6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成员 E/F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705C69-6D16-414C-A07D-0C445C05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276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问题解决、测试验收、总结与扩展方向。</a:t>
            </a:r>
          </a:p>
        </p:txBody>
      </p:sp>
    </p:spTree>
    <p:extLst>
      <p:ext uri="{BB962C8B-B14F-4D97-AF65-F5344CB8AC3E}">
        <p14:creationId xmlns:p14="http://schemas.microsoft.com/office/powerpoint/2010/main" val="15297055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DD3608-5393-4150-A171-2CE6189C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8ED38-8383-4118-A7B4-AD21E983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基于 Spark 的电影数据离线分析系统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9C0EE-FCF3-442A-91FB-691282B1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6DE43-E789-4F3A-9342-13189B17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11 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90386-C4DE-41D7-BB8E-05DEE241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4ABC6-C43C-44D4-8E62-FBA7905F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完成从数据到图表的全流程 Spark 离线分析系统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BCFB8-6128-4ED7-BBFB-7B0706AF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6A88B-5BEB-4CFB-9C3F-63B55F9C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6E6C3-E8AC-417F-9760-1F21D3A8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已完成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1139E-9B1A-4261-8EF9-5C5500D3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HDFS 数据存储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RDD 离线统计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Spark SQL 关联分析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Streaming 动态统计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Flask + ECharts 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B4275-F625-41B6-8283-A3869047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9A220-EDB4-47A8-8C44-BAE661C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229A9-8CB1-42C4-8E5F-671AF366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621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工程特点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110FE-0F05-41C1-9E83-1DECA85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一体化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脚本化复现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结果表解耦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适配 16GB Mac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A2A83-66BB-4F77-9450-BFF737C7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84687-9A56-41D0-847D-29C64B2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53BA0-5634-43A3-B3B6-71C09D7C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后续扩展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7C498-A4AA-483F-9079-CDACBE25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推荐算法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年龄段分析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类型筛选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更多实时指标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9376D-D486-4D52-A5C0-00455865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Q&amp;A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9E738-8B2B-4765-BF53-D62C7D8E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F828D-D529-4175-BF1B-39FC789F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17A42-E291-44A6-A415-1DB18DCD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863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3DADC-64AE-4717-9554-0C1F97A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53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Hadoop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A736C-0343-4FD6-ADCF-87DE0828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863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C2A79-557A-40F9-B679-26F3C9C7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53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9986D4-7104-4D03-841C-78B5AFA6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863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203E1-70A5-49CC-AA01-9DC2637A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53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ECharts</a:t>
            </a:r>
          </a:p>
        </p:txBody>
      </p:sp>
    </p:spTree>
    <p:extLst>
      <p:ext uri="{BB962C8B-B14F-4D97-AF65-F5344CB8AC3E}">
        <p14:creationId xmlns:p14="http://schemas.microsoft.com/office/powerpoint/2010/main" val="303805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2026-06-11T11:06:54.3880000Z</dcterms:created>
  <dcterms:modified xsi:type="dcterms:W3CDTF">2026-06-11T11:06:54.3880000Z</dcterms:modified>
</coreProperties>
</file>